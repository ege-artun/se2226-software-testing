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</p:sldMasterIdLst>
  <p:notesMasterIdLst>
    <p:notesMasterId r:id="rId35"/>
  </p:notesMasterIdLst>
  <p:sldIdLst>
    <p:sldId id="256" r:id="rId2"/>
    <p:sldId id="257" r:id="rId3"/>
    <p:sldId id="258" r:id="rId4"/>
    <p:sldId id="291" r:id="rId5"/>
    <p:sldId id="259" r:id="rId6"/>
    <p:sldId id="260" r:id="rId7"/>
    <p:sldId id="261" r:id="rId8"/>
    <p:sldId id="285" r:id="rId9"/>
    <p:sldId id="288" r:id="rId10"/>
    <p:sldId id="289" r:id="rId11"/>
    <p:sldId id="290" r:id="rId12"/>
    <p:sldId id="262" r:id="rId13"/>
    <p:sldId id="282" r:id="rId14"/>
    <p:sldId id="283" r:id="rId15"/>
    <p:sldId id="284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81" r:id="rId24"/>
    <p:sldId id="270" r:id="rId25"/>
    <p:sldId id="271" r:id="rId26"/>
    <p:sldId id="280" r:id="rId27"/>
    <p:sldId id="272" r:id="rId28"/>
    <p:sldId id="273" r:id="rId29"/>
    <p:sldId id="274" r:id="rId30"/>
    <p:sldId id="275" r:id="rId31"/>
    <p:sldId id="276" r:id="rId32"/>
    <p:sldId id="277" r:id="rId33"/>
    <p:sldId id="27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67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4DEF-D052-6FC0-0C0F-337C46B3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E618F-6B95-0FB9-5DA0-0C246AB8B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6AEA2-34B7-BE2C-AF66-10BBEBACB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591DC-1293-1F7E-A858-4970874046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25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038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550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6442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6142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496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3604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1583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1355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7960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0478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410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30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9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2226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Testing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5486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671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
</a:t>
            </a:r>
            <a:r>
              <a:rPr lang="en-US" sz="16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</a:t>
            </a: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</a:t>
            </a: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—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Berkay</a:t>
            </a: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Yıldırım</a:t>
            </a: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—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Serdar</a:t>
            </a: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</a:t>
            </a: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Güngör</a:t>
            </a: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2370006081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Artun – —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73353A-0DDC-B5E2-AB48-FD772EEC7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434" y="1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2344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3327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applications &amp; testing stack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0292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2344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3327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— UI Testing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· Selenium IDE · Playwright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50292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" y="246888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2677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— Unit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· 48 test cases · Code coverage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50292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246888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2677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 · 105 mutants · 60.19% 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50292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" y="37033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5021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9319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performance &amp; stress tests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429000"/>
            <a:ext cx="50292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37033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5021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9319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1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CDF38C8-76A3-D71C-5579-AB93487E3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Express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/ Sequelize / SQLite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CRUD web app with REST API.
Backend testing performed with:
• Jest (Unit + Integration)
• Stryker (Mutation Testing)
• JMeter (Load Testing)
</a:t>
            </a: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tested: </a:t>
            </a: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Search + Pagination
</a:t>
            </a: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/books · POST /books/new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/books/:id · DELETE /books/:id/delete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&amp; 500 error handlers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2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63B7112-A066-47A5-2080-BAD7B063B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7" y="939722"/>
            <a:ext cx="4575913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3C28D1-3B9A-037E-6D10-E27659D16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8E99-03F6-AF77-5F47-7FFA24D6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DB516B-081F-F835-31E9-77E55B288D3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6B4921-B3A3-65DD-DFB0-29D7E2BF5A3B}"/>
              </a:ext>
            </a:extLst>
          </p:cNvPr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252352-3D38-29E4-FACA-D7090D18650A}"/>
              </a:ext>
            </a:extLst>
          </p:cNvPr>
          <p:cNvSpPr/>
          <p:nvPr/>
        </p:nvSpPr>
        <p:spPr>
          <a:xfrm>
            <a:off x="36576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C07EDF-2BAE-D371-CA97-A4E8F50C1C1A}"/>
              </a:ext>
            </a:extLst>
          </p:cNvPr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Express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6FA230-0A39-3CC7-8FD5-1ADD5015EC7A}"/>
              </a:ext>
            </a:extLst>
          </p:cNvPr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Shape 2"/>
          <p:cNvSpPr/>
          <p:nvPr/>
        </p:nvSpPr>
        <p:spPr>
          <a:xfrm>
            <a:off x="274320" y="96012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4"/>
          <p:cNvSpPr/>
          <p:nvPr/>
        </p:nvSpPr>
        <p:spPr>
          <a:xfrm>
            <a:off x="36576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</a:t>
            </a:r>
            <a:endParaRPr lang="en-US" sz="1600" dirty="0"/>
          </a:p>
        </p:txBody>
      </p:sp>
      <p:sp>
        <p:nvSpPr>
          <p:cNvPr id="19" name="Text 5"/>
          <p:cNvSpPr/>
          <p:nvPr/>
        </p:nvSpPr>
        <p:spPr>
          <a:xfrm>
            <a:off x="3657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https://www.saucedemo.com</a:t>
            </a:r>
            <a:endParaRPr lang="en-US" sz="1000" dirty="0"/>
          </a:p>
        </p:txBody>
      </p:sp>
      <p:sp>
        <p:nvSpPr>
          <p:cNvPr id="20" name="Text 6"/>
          <p:cNvSpPr/>
          <p:nvPr/>
        </p:nvSpPr>
        <p:spPr>
          <a:xfrm>
            <a:off x="411480" y="1755648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demo site for testing.
UI testing performed with:
• Selenium WebDriver (Java)
• Selenium IDE (.side)
• Playwright
</a:t>
            </a: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Scenarios: </a:t>
            </a: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automated flows
</a:t>
            </a: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Login · Invalid Login · Locked-Out User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Product · Checkout Validation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Purchase · Logout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B645C7-797A-0ECD-590B-08A3B9AF2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0120"/>
            <a:ext cx="4469351" cy="3657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CA2D46-3029-2129-6DFE-87AD0DD5C26A}"/>
              </a:ext>
            </a:extLst>
          </p:cNvPr>
          <p:cNvSpPr txBox="1"/>
          <p:nvPr/>
        </p:nvSpPr>
        <p:spPr>
          <a:xfrm>
            <a:off x="6253474" y="4565795"/>
            <a:ext cx="110640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https://www.saucedemo.com</a:t>
            </a:r>
            <a:endParaRPr lang="en-US" sz="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C9E65-0DCA-E48C-F545-DEEDA7839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9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— JAVA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— UI Automation Testing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474720" cy="36576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749040" cy="960120"/>
          </a:xfrm>
          <a:prstGeom prst="rect">
            <a:avLst/>
          </a:prstGeom>
          <a:solidFill>
            <a:srgbClr val="EB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validLoginTest()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 → inventory page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801368"/>
            <a:ext cx="640080" cy="274320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801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3749040" cy="960120"/>
          </a:xfrm>
          <a:prstGeom prst="rect">
            <a:avLst/>
          </a:prstGeom>
          <a:solidFill>
            <a:srgbClr val="EB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243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invalidLoginTest()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44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→ error message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898648"/>
            <a:ext cx="640080" cy="274320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4 · JUnit 4 · ChromeDriver · CSS Selectors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4251960" cy="38404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B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ValidLoginTest.java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261872"/>
            <a:ext cx="4251960" cy="18288"/>
          </a:xfrm>
          <a:prstGeom prst="rect">
            <a:avLst/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325880"/>
            <a:ext cx="40690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validLoginTest()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driver.get(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"https://www.saucedemo.com/");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driver.findElement(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By.cssSelector(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"[data-test=\"username\"]"))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.sendKeys("standard_user");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driver.findElement(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By.cssSelector(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"[data-test=\"password\"]"))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.sendKeys("secret_sauce");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driver.findElement(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By.cssSelector(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"[data-test=\"login-button\"]"))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.click();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assertTrue(driver.getCurrentUrl()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.contains("inventory.html"));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3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1384013-BD0B-9C3E-4BA7-4BBA53716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— TEST RESULT</a:t>
            </a:r>
            <a:endParaRPr lang="en-US" sz="2400" dirty="0"/>
          </a:p>
        </p:txBody>
      </p:sp>
      <p:pic>
        <p:nvPicPr>
          <p:cNvPr id="4" name="Image 0" descr="/home/claude/selenium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2740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4618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Java test execution result — 2 tests passed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5BF12A-2F22-C5E0-F24D-7691A1B88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IDE — TEST SCENARIOS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— 7 Automated Test Scenarios (.side file)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509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Locked-Out User Login Validation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1704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a banned user cannot log 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0" y="1033272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0" y="103327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453896"/>
            <a:ext cx="8412480" cy="493776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453896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5270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4904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to Cart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170992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adds product, proceeds to checkout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1572768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0" y="15727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993392"/>
            <a:ext cx="841248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1993392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06654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20299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Product from Cart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224942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adds product, then removes it from cart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46720" y="2112264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21122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532888"/>
            <a:ext cx="8412480" cy="493776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532888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6060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25694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Form Empty Field Validation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27889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checkout without filling required fields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0" y="2651760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46720" y="265176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072384"/>
            <a:ext cx="841248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072384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314553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" y="31089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Purchase Flow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" y="332841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purchase with valid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46720" y="3191256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46720" y="31912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611880"/>
            <a:ext cx="8412480" cy="493776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4320" y="3611880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36850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" y="364845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Process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77240" y="38679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user can successfully log out via menu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46720" y="3730752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046720" y="373075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151376"/>
            <a:ext cx="841248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151376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2245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" y="41879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Product Addition Test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77240" y="440740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4 different products to cart simultaneously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046720" y="4270248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46720" y="427024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5</a:t>
            </a:r>
            <a:endParaRPr lang="en-US" sz="9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F65C3C7-E7FA-2D18-440A-6BC16B7E1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45720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C454BB-D943-FEFD-7182-0A30153DBAC5}"/>
              </a:ext>
            </a:extLst>
          </p:cNvPr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78B7D10-49F1-CB8E-9EF1-D5475A4A0956}"/>
              </a:ext>
            </a:extLst>
          </p:cNvPr>
          <p:cNvSpPr/>
          <p:nvPr/>
        </p:nvSpPr>
        <p:spPr>
          <a:xfrm>
            <a:off x="274320" y="914400"/>
            <a:ext cx="2658794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4E2E1F2-E8C8-252B-46B9-01D83BC25B34}"/>
              </a:ext>
            </a:extLst>
          </p:cNvPr>
          <p:cNvSpPr/>
          <p:nvPr/>
        </p:nvSpPr>
        <p:spPr>
          <a:xfrm>
            <a:off x="274320" y="914400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3BBEC90-5BEC-DCBF-1B28-CCD1FD05EF9E}"/>
              </a:ext>
            </a:extLst>
          </p:cNvPr>
          <p:cNvSpPr/>
          <p:nvPr/>
        </p:nvSpPr>
        <p:spPr>
          <a:xfrm>
            <a:off x="274320" y="9875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37E98DA-433C-3737-4AE8-C8B03481311D}"/>
              </a:ext>
            </a:extLst>
          </p:cNvPr>
          <p:cNvSpPr/>
          <p:nvPr/>
        </p:nvSpPr>
        <p:spPr>
          <a:xfrm>
            <a:off x="777240" y="9509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Locked-Out User Login Validation</a:t>
            </a:r>
            <a:endParaRPr lang="en-US"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B353E65-61DB-F6A4-5454-689AD9FE1B18}"/>
              </a:ext>
            </a:extLst>
          </p:cNvPr>
          <p:cNvSpPr/>
          <p:nvPr/>
        </p:nvSpPr>
        <p:spPr>
          <a:xfrm>
            <a:off x="823600" y="128320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a banned user cannot log in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39581AE-B526-6B30-A64F-4E78456D51E8}"/>
              </a:ext>
            </a:extLst>
          </p:cNvPr>
          <p:cNvSpPr/>
          <p:nvPr/>
        </p:nvSpPr>
        <p:spPr>
          <a:xfrm>
            <a:off x="8046720" y="103327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AE5983-9F6D-9EB5-B3EE-95D055253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6" y="1979675"/>
            <a:ext cx="3966562" cy="2098549"/>
          </a:xfrm>
          <a:prstGeom prst="rect">
            <a:avLst/>
          </a:prstGeom>
        </p:spPr>
      </p:pic>
      <p:sp>
        <p:nvSpPr>
          <p:cNvPr id="20" name="Shape 11">
            <a:extLst>
              <a:ext uri="{FF2B5EF4-FFF2-40B4-BE49-F238E27FC236}">
                <a16:creationId xmlns:a16="http://schemas.microsoft.com/office/drawing/2014/main" id="{84971E49-96E8-D1BB-B4B8-349C46BF8D6D}"/>
              </a:ext>
            </a:extLst>
          </p:cNvPr>
          <p:cNvSpPr/>
          <p:nvPr/>
        </p:nvSpPr>
        <p:spPr>
          <a:xfrm>
            <a:off x="4572000" y="947498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E720625-A68D-1E71-D603-FF8A681CAC75}"/>
              </a:ext>
            </a:extLst>
          </p:cNvPr>
          <p:cNvSpPr/>
          <p:nvPr/>
        </p:nvSpPr>
        <p:spPr>
          <a:xfrm>
            <a:off x="4572000" y="102065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AB4B1871-8745-2C64-3602-52BD878713FB}"/>
              </a:ext>
            </a:extLst>
          </p:cNvPr>
          <p:cNvSpPr/>
          <p:nvPr/>
        </p:nvSpPr>
        <p:spPr>
          <a:xfrm>
            <a:off x="5074920" y="98407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to Cart</a:t>
            </a:r>
            <a:endParaRPr lang="en-US" sz="105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9A4518DE-5EC9-0D6B-4319-D8DF19E501D5}"/>
              </a:ext>
            </a:extLst>
          </p:cNvPr>
          <p:cNvSpPr/>
          <p:nvPr/>
        </p:nvSpPr>
        <p:spPr>
          <a:xfrm>
            <a:off x="5074920" y="120353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adds product, proceeds to checkout</a:t>
            </a:r>
            <a:endParaRPr lang="en-US" sz="9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ED5326C4-2AE9-3D36-4C7B-68A716A19084}"/>
              </a:ext>
            </a:extLst>
          </p:cNvPr>
          <p:cNvSpPr/>
          <p:nvPr/>
        </p:nvSpPr>
        <p:spPr>
          <a:xfrm>
            <a:off x="7335769" y="1121234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A42D6C6E-B501-2C72-9C8E-74340D488FA3}"/>
              </a:ext>
            </a:extLst>
          </p:cNvPr>
          <p:cNvSpPr/>
          <p:nvPr/>
        </p:nvSpPr>
        <p:spPr>
          <a:xfrm>
            <a:off x="7335769" y="112123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88467373-F8A1-56F3-6966-3582B0224ECA}"/>
              </a:ext>
            </a:extLst>
          </p:cNvPr>
          <p:cNvSpPr/>
          <p:nvPr/>
        </p:nvSpPr>
        <p:spPr>
          <a:xfrm>
            <a:off x="3038089" y="1065276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2C0BF450-2962-1B94-C2F6-7725103BFAEF}"/>
              </a:ext>
            </a:extLst>
          </p:cNvPr>
          <p:cNvSpPr/>
          <p:nvPr/>
        </p:nvSpPr>
        <p:spPr>
          <a:xfrm>
            <a:off x="3038089" y="10652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8596F50-DCEB-D90B-7F27-FD1DA51E5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979674"/>
            <a:ext cx="3984153" cy="2098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DAC6C0-DE3C-C8C9-4B78-5951C044E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45720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5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8">
            <a:extLst>
              <a:ext uri="{FF2B5EF4-FFF2-40B4-BE49-F238E27FC236}">
                <a16:creationId xmlns:a16="http://schemas.microsoft.com/office/drawing/2014/main" id="{FD5364F0-29FB-369D-03E9-09A0E08543C7}"/>
              </a:ext>
            </a:extLst>
          </p:cNvPr>
          <p:cNvSpPr/>
          <p:nvPr/>
        </p:nvSpPr>
        <p:spPr>
          <a:xfrm>
            <a:off x="165296" y="949218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7652CBEE-4A75-4929-3C3A-76B1923FB25F}"/>
              </a:ext>
            </a:extLst>
          </p:cNvPr>
          <p:cNvSpPr/>
          <p:nvPr/>
        </p:nvSpPr>
        <p:spPr>
          <a:xfrm>
            <a:off x="165296" y="102237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37AC901C-0A53-67D9-F690-D6D9B62138DB}"/>
              </a:ext>
            </a:extLst>
          </p:cNvPr>
          <p:cNvSpPr/>
          <p:nvPr/>
        </p:nvSpPr>
        <p:spPr>
          <a:xfrm>
            <a:off x="668216" y="98579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Product from Cart</a:t>
            </a:r>
            <a:endParaRPr lang="en-US" sz="1050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486961A2-F54D-9816-6B74-3AA30740B050}"/>
              </a:ext>
            </a:extLst>
          </p:cNvPr>
          <p:cNvSpPr/>
          <p:nvPr/>
        </p:nvSpPr>
        <p:spPr>
          <a:xfrm>
            <a:off x="668216" y="120525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adds product, then removes it from cart</a:t>
            </a:r>
            <a:endParaRPr lang="en-US" sz="900" dirty="0"/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C5583BFB-07A3-9B05-8A9E-A5E338591555}"/>
              </a:ext>
            </a:extLst>
          </p:cNvPr>
          <p:cNvSpPr/>
          <p:nvPr/>
        </p:nvSpPr>
        <p:spPr>
          <a:xfrm>
            <a:off x="3161715" y="1136670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558DE5DC-F8F6-BF36-0E00-DBA3619C1A42}"/>
              </a:ext>
            </a:extLst>
          </p:cNvPr>
          <p:cNvSpPr/>
          <p:nvPr/>
        </p:nvSpPr>
        <p:spPr>
          <a:xfrm>
            <a:off x="3161715" y="113667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900" dirty="0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F7E2426D-A678-22B7-AD8A-B04559A0FF4D}"/>
              </a:ext>
            </a:extLst>
          </p:cNvPr>
          <p:cNvSpPr/>
          <p:nvPr/>
        </p:nvSpPr>
        <p:spPr>
          <a:xfrm>
            <a:off x="4572000" y="949218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7A11CFC2-BFB0-06C6-835C-E36E366091F3}"/>
              </a:ext>
            </a:extLst>
          </p:cNvPr>
          <p:cNvSpPr/>
          <p:nvPr/>
        </p:nvSpPr>
        <p:spPr>
          <a:xfrm>
            <a:off x="4572000" y="102237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27">
            <a:extLst>
              <a:ext uri="{FF2B5EF4-FFF2-40B4-BE49-F238E27FC236}">
                <a16:creationId xmlns:a16="http://schemas.microsoft.com/office/drawing/2014/main" id="{B8182964-40F9-9E96-A788-7698E7D9E7D1}"/>
              </a:ext>
            </a:extLst>
          </p:cNvPr>
          <p:cNvSpPr/>
          <p:nvPr/>
        </p:nvSpPr>
        <p:spPr>
          <a:xfrm>
            <a:off x="5074920" y="98579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Form Empty Field Validation</a:t>
            </a:r>
            <a:endParaRPr lang="en-US" sz="1050" dirty="0"/>
          </a:p>
        </p:txBody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E48CEB0B-518E-6791-F94A-60363B60C27D}"/>
              </a:ext>
            </a:extLst>
          </p:cNvPr>
          <p:cNvSpPr/>
          <p:nvPr/>
        </p:nvSpPr>
        <p:spPr>
          <a:xfrm>
            <a:off x="5074920" y="120525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checkout without filling required fields</a:t>
            </a:r>
            <a:endParaRPr lang="en-US" sz="900" dirty="0"/>
          </a:p>
        </p:txBody>
      </p:sp>
      <p:sp>
        <p:nvSpPr>
          <p:cNvPr id="19" name="Shape 29">
            <a:extLst>
              <a:ext uri="{FF2B5EF4-FFF2-40B4-BE49-F238E27FC236}">
                <a16:creationId xmlns:a16="http://schemas.microsoft.com/office/drawing/2014/main" id="{34EDAE6E-4E95-F626-1B52-D94E757BB08F}"/>
              </a:ext>
            </a:extLst>
          </p:cNvPr>
          <p:cNvSpPr/>
          <p:nvPr/>
        </p:nvSpPr>
        <p:spPr>
          <a:xfrm>
            <a:off x="7568419" y="1136670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04DA7130-502B-2460-EF1D-7EDD7B73520A}"/>
              </a:ext>
            </a:extLst>
          </p:cNvPr>
          <p:cNvSpPr/>
          <p:nvPr/>
        </p:nvSpPr>
        <p:spPr>
          <a:xfrm>
            <a:off x="7568419" y="113667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8C8A9EE7-FC18-C197-E5BC-3213BA7362EB}"/>
              </a:ext>
            </a:extLst>
          </p:cNvPr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E14931E-43DB-A178-EBB0-BB015F546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7" y="1625874"/>
            <a:ext cx="4093698" cy="21399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F79590-BFDB-D4F9-7847-2D97F11FD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31892"/>
            <a:ext cx="4213650" cy="22482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A709F9-92FE-46AB-5C43-1A740B5EF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45720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13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B5FD18-61EA-6920-1E3A-11996F926B63}"/>
              </a:ext>
            </a:extLst>
          </p:cNvPr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2">
            <a:extLst>
              <a:ext uri="{FF2B5EF4-FFF2-40B4-BE49-F238E27FC236}">
                <a16:creationId xmlns:a16="http://schemas.microsoft.com/office/drawing/2014/main" id="{564E6A68-BC53-6B80-B817-F3990F2014CC}"/>
              </a:ext>
            </a:extLst>
          </p:cNvPr>
          <p:cNvSpPr/>
          <p:nvPr/>
        </p:nvSpPr>
        <p:spPr>
          <a:xfrm>
            <a:off x="316523" y="1024128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284B2EDB-0A4F-5579-071A-80DDEFE591DA}"/>
              </a:ext>
            </a:extLst>
          </p:cNvPr>
          <p:cNvSpPr/>
          <p:nvPr/>
        </p:nvSpPr>
        <p:spPr>
          <a:xfrm>
            <a:off x="316523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34">
            <a:extLst>
              <a:ext uri="{FF2B5EF4-FFF2-40B4-BE49-F238E27FC236}">
                <a16:creationId xmlns:a16="http://schemas.microsoft.com/office/drawing/2014/main" id="{D384127E-8A14-3B50-89AB-07D885851BC3}"/>
              </a:ext>
            </a:extLst>
          </p:cNvPr>
          <p:cNvSpPr/>
          <p:nvPr/>
        </p:nvSpPr>
        <p:spPr>
          <a:xfrm>
            <a:off x="819443" y="10607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Purchase Flow</a:t>
            </a:r>
            <a:endParaRPr lang="en-US" sz="1050" dirty="0"/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0CFAFF15-CC6A-8D08-4A59-0E26A0EC5844}"/>
              </a:ext>
            </a:extLst>
          </p:cNvPr>
          <p:cNvSpPr/>
          <p:nvPr/>
        </p:nvSpPr>
        <p:spPr>
          <a:xfrm>
            <a:off x="819443" y="12801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purchase with valid data</a:t>
            </a:r>
            <a:endParaRPr lang="en-US" sz="900" dirty="0"/>
          </a:p>
        </p:txBody>
      </p:sp>
      <p:sp>
        <p:nvSpPr>
          <p:cNvPr id="9" name="Shape 36">
            <a:extLst>
              <a:ext uri="{FF2B5EF4-FFF2-40B4-BE49-F238E27FC236}">
                <a16:creationId xmlns:a16="http://schemas.microsoft.com/office/drawing/2014/main" id="{E7BB38EC-C998-640E-A4AA-1D545A5FCB2F}"/>
              </a:ext>
            </a:extLst>
          </p:cNvPr>
          <p:cNvSpPr/>
          <p:nvPr/>
        </p:nvSpPr>
        <p:spPr>
          <a:xfrm>
            <a:off x="3200400" y="1211580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37">
            <a:extLst>
              <a:ext uri="{FF2B5EF4-FFF2-40B4-BE49-F238E27FC236}">
                <a16:creationId xmlns:a16="http://schemas.microsoft.com/office/drawing/2014/main" id="{3C691F9E-62B6-6CDE-8FB0-BAA2F7233930}"/>
              </a:ext>
            </a:extLst>
          </p:cNvPr>
          <p:cNvSpPr/>
          <p:nvPr/>
        </p:nvSpPr>
        <p:spPr>
          <a:xfrm>
            <a:off x="3200400" y="12115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Shape 39">
            <a:extLst>
              <a:ext uri="{FF2B5EF4-FFF2-40B4-BE49-F238E27FC236}">
                <a16:creationId xmlns:a16="http://schemas.microsoft.com/office/drawing/2014/main" id="{9960CA59-82F0-DC99-F72E-52C065C5BEE3}"/>
              </a:ext>
            </a:extLst>
          </p:cNvPr>
          <p:cNvSpPr/>
          <p:nvPr/>
        </p:nvSpPr>
        <p:spPr>
          <a:xfrm>
            <a:off x="4983480" y="1024128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40">
            <a:extLst>
              <a:ext uri="{FF2B5EF4-FFF2-40B4-BE49-F238E27FC236}">
                <a16:creationId xmlns:a16="http://schemas.microsoft.com/office/drawing/2014/main" id="{D0D4849B-729B-58FB-D3AE-126A38FB546E}"/>
              </a:ext>
            </a:extLst>
          </p:cNvPr>
          <p:cNvSpPr/>
          <p:nvPr/>
        </p:nvSpPr>
        <p:spPr>
          <a:xfrm>
            <a:off x="4983480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4" name="Text 41">
            <a:extLst>
              <a:ext uri="{FF2B5EF4-FFF2-40B4-BE49-F238E27FC236}">
                <a16:creationId xmlns:a16="http://schemas.microsoft.com/office/drawing/2014/main" id="{3B8F8990-5FD1-406A-C4D5-53B2497DB007}"/>
              </a:ext>
            </a:extLst>
          </p:cNvPr>
          <p:cNvSpPr/>
          <p:nvPr/>
        </p:nvSpPr>
        <p:spPr>
          <a:xfrm>
            <a:off x="5486400" y="10607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Process</a:t>
            </a:r>
            <a:endParaRPr lang="en-US" sz="1050" dirty="0"/>
          </a:p>
        </p:txBody>
      </p:sp>
      <p:sp>
        <p:nvSpPr>
          <p:cNvPr id="15" name="Text 42">
            <a:extLst>
              <a:ext uri="{FF2B5EF4-FFF2-40B4-BE49-F238E27FC236}">
                <a16:creationId xmlns:a16="http://schemas.microsoft.com/office/drawing/2014/main" id="{2773A308-B12E-6B38-AF5D-0CF3273020C8}"/>
              </a:ext>
            </a:extLst>
          </p:cNvPr>
          <p:cNvSpPr/>
          <p:nvPr/>
        </p:nvSpPr>
        <p:spPr>
          <a:xfrm>
            <a:off x="5486400" y="12801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user can successfully log out via menu</a:t>
            </a:r>
            <a:endParaRPr lang="en-US" sz="900" dirty="0"/>
          </a:p>
        </p:txBody>
      </p:sp>
      <p:sp>
        <p:nvSpPr>
          <p:cNvPr id="16" name="Shape 43">
            <a:extLst>
              <a:ext uri="{FF2B5EF4-FFF2-40B4-BE49-F238E27FC236}">
                <a16:creationId xmlns:a16="http://schemas.microsoft.com/office/drawing/2014/main" id="{BBE56E4D-D2AC-3B4B-D963-D6B1D5C9EC6D}"/>
              </a:ext>
            </a:extLst>
          </p:cNvPr>
          <p:cNvSpPr/>
          <p:nvPr/>
        </p:nvSpPr>
        <p:spPr>
          <a:xfrm>
            <a:off x="7867357" y="1211580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44">
            <a:extLst>
              <a:ext uri="{FF2B5EF4-FFF2-40B4-BE49-F238E27FC236}">
                <a16:creationId xmlns:a16="http://schemas.microsoft.com/office/drawing/2014/main" id="{2726BC2A-BDBB-80E9-3799-FEBA3CEC00B2}"/>
              </a:ext>
            </a:extLst>
          </p:cNvPr>
          <p:cNvSpPr/>
          <p:nvPr/>
        </p:nvSpPr>
        <p:spPr>
          <a:xfrm>
            <a:off x="7867357" y="12115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95E4CA-853C-AA13-4CCF-5EE36099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14872"/>
            <a:ext cx="4054567" cy="21679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2875EA-BD18-8273-BCBD-A060946DE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683" y="2015920"/>
            <a:ext cx="3925722" cy="20668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0D2743-62F6-59C1-54D0-919A28F44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45720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38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5">
            <a:extLst>
              <a:ext uri="{FF2B5EF4-FFF2-40B4-BE49-F238E27FC236}">
                <a16:creationId xmlns:a16="http://schemas.microsoft.com/office/drawing/2014/main" id="{B92D5DAA-F4D5-10F5-EE7F-F1D6F5A96BEC}"/>
              </a:ext>
            </a:extLst>
          </p:cNvPr>
          <p:cNvSpPr/>
          <p:nvPr/>
        </p:nvSpPr>
        <p:spPr>
          <a:xfrm>
            <a:off x="274320" y="1098687"/>
            <a:ext cx="841248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46">
            <a:extLst>
              <a:ext uri="{FF2B5EF4-FFF2-40B4-BE49-F238E27FC236}">
                <a16:creationId xmlns:a16="http://schemas.microsoft.com/office/drawing/2014/main" id="{3E21894F-8B70-6639-E6E1-FA63A909947D}"/>
              </a:ext>
            </a:extLst>
          </p:cNvPr>
          <p:cNvSpPr/>
          <p:nvPr/>
        </p:nvSpPr>
        <p:spPr>
          <a:xfrm>
            <a:off x="2412609" y="1002324"/>
            <a:ext cx="41148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7">
            <a:extLst>
              <a:ext uri="{FF2B5EF4-FFF2-40B4-BE49-F238E27FC236}">
                <a16:creationId xmlns:a16="http://schemas.microsoft.com/office/drawing/2014/main" id="{2114E457-4350-C272-BCDD-BCB1E1B07893}"/>
              </a:ext>
            </a:extLst>
          </p:cNvPr>
          <p:cNvSpPr/>
          <p:nvPr/>
        </p:nvSpPr>
        <p:spPr>
          <a:xfrm>
            <a:off x="2412609" y="10754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48">
            <a:extLst>
              <a:ext uri="{FF2B5EF4-FFF2-40B4-BE49-F238E27FC236}">
                <a16:creationId xmlns:a16="http://schemas.microsoft.com/office/drawing/2014/main" id="{66315D61-547E-D4AA-0260-7D41625FA0A2}"/>
              </a:ext>
            </a:extLst>
          </p:cNvPr>
          <p:cNvSpPr/>
          <p:nvPr/>
        </p:nvSpPr>
        <p:spPr>
          <a:xfrm>
            <a:off x="2915529" y="10389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Product Addition Test</a:t>
            </a:r>
            <a:endParaRPr lang="en-US" sz="1050" dirty="0"/>
          </a:p>
        </p:txBody>
      </p:sp>
      <p:sp>
        <p:nvSpPr>
          <p:cNvPr id="6" name="Text 49">
            <a:extLst>
              <a:ext uri="{FF2B5EF4-FFF2-40B4-BE49-F238E27FC236}">
                <a16:creationId xmlns:a16="http://schemas.microsoft.com/office/drawing/2014/main" id="{1C14237F-5316-978D-7ABE-91CCEDBF15AB}"/>
              </a:ext>
            </a:extLst>
          </p:cNvPr>
          <p:cNvSpPr/>
          <p:nvPr/>
        </p:nvSpPr>
        <p:spPr>
          <a:xfrm>
            <a:off x="2915529" y="12583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4 different products to cart simultaneously</a:t>
            </a:r>
            <a:endParaRPr lang="en-US" sz="900" dirty="0"/>
          </a:p>
        </p:txBody>
      </p:sp>
      <p:sp>
        <p:nvSpPr>
          <p:cNvPr id="7" name="Shape 50">
            <a:extLst>
              <a:ext uri="{FF2B5EF4-FFF2-40B4-BE49-F238E27FC236}">
                <a16:creationId xmlns:a16="http://schemas.microsoft.com/office/drawing/2014/main" id="{79E3CE2A-3EC9-EB37-C1EA-6FEA633E337A}"/>
              </a:ext>
            </a:extLst>
          </p:cNvPr>
          <p:cNvSpPr/>
          <p:nvPr/>
        </p:nvSpPr>
        <p:spPr>
          <a:xfrm>
            <a:off x="5542670" y="1130340"/>
            <a:ext cx="548640" cy="237744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1">
            <a:extLst>
              <a:ext uri="{FF2B5EF4-FFF2-40B4-BE49-F238E27FC236}">
                <a16:creationId xmlns:a16="http://schemas.microsoft.com/office/drawing/2014/main" id="{AF52C048-DD19-D353-6E2E-A772D4E5A111}"/>
              </a:ext>
            </a:extLst>
          </p:cNvPr>
          <p:cNvSpPr/>
          <p:nvPr/>
        </p:nvSpPr>
        <p:spPr>
          <a:xfrm>
            <a:off x="5542670" y="11303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53AD013A-FC61-3D68-3998-4496072EEF7A}"/>
              </a:ext>
            </a:extLst>
          </p:cNvPr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AA4B5D-D958-BD83-32F9-2F48F6FC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775" y="1797891"/>
            <a:ext cx="5521569" cy="2946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CA95B4-C697-62D4-BAC4-301B139DA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45720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87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AUTOMATED UI TESTING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Playwright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4538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end-to-end testing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executed on Chromium browser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514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same SauceDemo user 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044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screenshots &amp; video recording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5753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 execution capability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 Covered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444752"/>
            <a:ext cx="256032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44475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1444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&amp; Invalid Login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956816"/>
            <a:ext cx="256032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956816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to Cart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468880"/>
            <a:ext cx="256032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468880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Product from Cart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980944"/>
            <a:ext cx="256032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980944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980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Validation (Empty Fields)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493008"/>
            <a:ext cx="256032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49300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Purchase 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4005072"/>
            <a:ext cx="256032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400507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Process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report: SauceDemo-Playwright.pdf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6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2A9FB6E-E003-5E08-373B-9A96A50F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9828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09A95-E6DA-6304-8766-85B1A48E7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616"/>
            <a:ext cx="4431364" cy="3545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35DACD-9206-A1BF-C66D-4F23E66EA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64" y="973616"/>
            <a:ext cx="4712636" cy="3545672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E52BC545-30B1-1544-1E56-72EEB440EEC2}"/>
              </a:ext>
            </a:extLst>
          </p:cNvPr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655275-4197-B086-E2A4-F7A192128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82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403A98-A359-3B5D-5CF4-988009A6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931"/>
            <a:ext cx="4572000" cy="3934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6F6E1B-1781-50F4-2CD6-2C030EE4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49931"/>
            <a:ext cx="4572000" cy="3934912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294C88D4-8CC0-E2C9-EF8A-9C575DCEC5C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239320" y="0"/>
            <a:ext cx="904680" cy="822960"/>
          </a:xfrm>
          <a:prstGeom prst="rect">
            <a:avLst/>
          </a:prstGeom>
          <a:ln w="0">
            <a:noFill/>
          </a:ln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70DE54E-2C53-E56C-37BE-E1B70986EC98}"/>
              </a:ext>
            </a:extLst>
          </p:cNvPr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78EBB8-7640-C7DD-CCB5-8C73D6365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75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784F91-FAEF-BE3D-E288-BF9267FC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086"/>
            <a:ext cx="4485002" cy="3815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CACFA7-761D-CD0C-D524-F13D2CFD3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002" y="842086"/>
            <a:ext cx="4658998" cy="381549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FEE1E279-A3C8-4CA4-3235-97E798678E3B}"/>
              </a:ext>
            </a:extLst>
          </p:cNvPr>
          <p:cNvSpPr/>
          <p:nvPr/>
        </p:nvSpPr>
        <p:spPr>
          <a:xfrm>
            <a:off x="0" y="-26064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B3614-CC8E-1AFD-53EA-F09DFE535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15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— APPLICATION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789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9202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32888" y="10789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32888" y="1444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202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1728" y="10789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Templates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1728" y="1444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0840" y="914400"/>
            <a:ext cx="19202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0568" y="10789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0568" y="1444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1965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API Endpoints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2194560" cy="31089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3774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2377440"/>
            <a:ext cx="3840480" cy="31089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06040" y="23774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377440"/>
            <a:ext cx="2194560" cy="31089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697480"/>
            <a:ext cx="8321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2697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/books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697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302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962656"/>
            <a:ext cx="8321040" cy="256032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29626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2962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books (paginated + search)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29626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227832"/>
            <a:ext cx="8321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227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/books/new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60320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add book 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46520" y="3227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493008"/>
            <a:ext cx="8321040" cy="256032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3493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/books/new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0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book (with validation)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46520" y="3493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/ 200 error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758184"/>
            <a:ext cx="8321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0040" y="3758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/books/:id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60320" y="37581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book detail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3758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500 if not found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023360"/>
            <a:ext cx="8321040" cy="256032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" y="40233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/books/:id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60320" y="4023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book (with validation)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46520" y="40233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/ 200 error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288536"/>
            <a:ext cx="8321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0040" y="42885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/books/:id/delete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60320" y="4288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book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46520" y="42885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/ 500 if not found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553712"/>
            <a:ext cx="8321040" cy="256032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4553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*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560320" y="4553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404 handler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4553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7</a:t>
            </a:r>
            <a:endParaRPr lang="en-US" sz="9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377D3A40-255B-76D3-B823-8A727154B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TESTING — JEST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Total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92024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20240" cy="91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Failed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0840" y="914400"/>
            <a:ext cx="192024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121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Groups (books.test.js)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48716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5511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2816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/books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14600" y="26426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14600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48716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46120" y="248716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25511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2816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pagination, search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26426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0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48716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0" y="248716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55080" y="25511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/books?search=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2816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all fields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458200" y="26426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458200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21868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21868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32826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/books/new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rendering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14600" y="337413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14600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46120" y="321868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46120" y="321868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83280" y="32826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/books/new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83280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validation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0" y="337413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86400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321868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217920" y="321868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55080" y="32826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/books/:id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55080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458200" y="337413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458200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4320" y="395020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74320" y="395020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1480" y="4014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/books/:id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11480" y="4279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+ validation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14600" y="410565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514600" y="4105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246120" y="395020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246120" y="395020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383280" y="4014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/books/:id/delete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383280" y="4279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operations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86400" y="410565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486400" y="4105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217920" y="3950208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217920" y="3950208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355080" y="4014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404 - unknown route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355080" y="4279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458200" y="410565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58200" y="4105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8</a:t>
            </a:r>
            <a:endParaRPr lang="en-US" sz="9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5BFD8787-715E-D32D-6003-1F868F73B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EXECUTION RESULT</a:t>
            </a:r>
            <a:endParaRPr lang="en-US" sz="2400" dirty="0"/>
          </a:p>
        </p:txBody>
      </p:sp>
      <p:pic>
        <p:nvPicPr>
          <p:cNvPr id="4" name="Image 0" descr="/home/claude/unit_tes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932688"/>
            <a:ext cx="2753507" cy="3956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48/48 Tests Passed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16002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suites pass with no failures.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 completed in 2.7 seconds.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2377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Summary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788920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27889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27889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passed / 1 total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172968"/>
            <a:ext cx="4114800" cy="329184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1729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68880" y="31729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passed / 48 total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557016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5570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35570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total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941064"/>
            <a:ext cx="4114800" cy="329184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39410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68880" y="39410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2.702 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9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629EA7-9E10-2418-E753-AED6BFB59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078992"/>
            <a:ext cx="6400800" cy="22860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0240" y="1078992"/>
            <a:ext cx="6234379" cy="228600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97.39%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1737360"/>
            <a:ext cx="6400800" cy="22860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737360"/>
            <a:ext cx="5011826" cy="2286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0" y="16184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78.26%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2768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2395728"/>
            <a:ext cx="6400800" cy="22860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20240" y="2395728"/>
            <a:ext cx="6400800" cy="228600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27685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29352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20240" y="3054096"/>
            <a:ext cx="6400800" cy="22860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20240" y="3054096"/>
            <a:ext cx="6227978" cy="228600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0" y="29352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97.34%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7475" y="333242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Coverage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01752" y="3670754"/>
            <a:ext cx="219456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9184" y="367075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87752" y="3670754"/>
            <a:ext cx="59436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615184" y="367075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27832" y="3670754"/>
            <a:ext cx="59436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55264" y="367075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867912" y="3670754"/>
            <a:ext cx="59436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895344" y="367075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462272" y="3670754"/>
            <a:ext cx="64008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489704" y="367075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01752" y="3935930"/>
            <a:ext cx="4846320" cy="1737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29184" y="3935930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615184" y="3935930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96.15%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255264" y="3935930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95344" y="3935930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489704" y="3935930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96.15%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01752" y="4109666"/>
            <a:ext cx="4846320" cy="173736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29184" y="4109666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errorHandlers.js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615184" y="4109666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255264" y="4109666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895344" y="4109666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489704" y="4109666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01752" y="4283402"/>
            <a:ext cx="4846320" cy="1737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29184" y="4283402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models/book.js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615184" y="4283402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255264" y="4283402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895344" y="4283402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489704" y="4283402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01752" y="4457138"/>
            <a:ext cx="4846320" cy="173736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29184" y="4457138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models/index.js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2615184" y="4457138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255264" y="4457138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66.66%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3895344" y="4457138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489704" y="4457138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01752" y="4630874"/>
            <a:ext cx="4846320" cy="1737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329184" y="4630874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routes/index.js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2615184" y="4630874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255264" y="4630874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3895344" y="4630874"/>
            <a:ext cx="594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4489704" y="4630874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97.91%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8686800" y="4892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10</a:t>
            </a:r>
            <a:endParaRPr lang="en-US" sz="900" dirty="0"/>
          </a:p>
        </p:txBody>
      </p:sp>
      <p:pic>
        <p:nvPicPr>
          <p:cNvPr id="63" name="Resim 6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669" y="3461566"/>
            <a:ext cx="3657011" cy="14642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172F14A-FAB6-8375-3DCA-6541713C0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— STRYKER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00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0020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24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Mutants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38528" y="914400"/>
            <a:ext cx="1600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38528" y="914400"/>
            <a:ext cx="1600200" cy="91440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38528" y="1024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38528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94176" y="914400"/>
            <a:ext cx="1600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94176" y="914400"/>
            <a:ext cx="1600200" cy="91440"/>
          </a:xfrm>
          <a:prstGeom prst="rect">
            <a:avLst/>
          </a:prstGeom>
          <a:solidFill>
            <a:srgbClr val="E07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94176" y="1024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94176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9824" y="914400"/>
            <a:ext cx="1600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49824" y="914400"/>
            <a:ext cx="1600200" cy="91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9824" y="1024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9824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Out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05472" y="914400"/>
            <a:ext cx="1600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05472" y="914400"/>
            <a:ext cx="16002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5472" y="1024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60.19%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05472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Per File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25603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2633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routes/index.js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971800"/>
            <a:ext cx="3657600" cy="18288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2971800"/>
            <a:ext cx="2560320" cy="182880"/>
          </a:xfrm>
          <a:prstGeom prst="rect">
            <a:avLst/>
          </a:prstGeom>
          <a:solidFill>
            <a:srgbClr val="1D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— Killed: 41  Survived: 23  Timeout: 15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errorHandlers.js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114800"/>
            <a:ext cx="3657600" cy="18288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" y="4114800"/>
            <a:ext cx="954268" cy="182880"/>
          </a:xfrm>
          <a:prstGeom prst="rect">
            <a:avLst/>
          </a:prstGeom>
          <a:solidFill>
            <a:srgbClr val="E07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361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26.09% — Killed: 2  Survived: 16  Timeout: 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103120"/>
            <a:ext cx="42062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2176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Survived Mutants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2606040"/>
            <a:ext cx="109728" cy="109728"/>
          </a:xfrm>
          <a:prstGeom prst="ellipse">
            <a:avLst/>
          </a:prstGeom>
          <a:solidFill>
            <a:srgbClr val="E07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Pagination: page || 1 conditional not fully tested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008376"/>
            <a:ext cx="109728" cy="109728"/>
          </a:xfrm>
          <a:prstGeom prst="ellipse">
            <a:avLst/>
          </a:prstGeom>
          <a:solidFill>
            <a:srgbClr val="E07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2980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pageCount calculation (/ vs *) not killed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410712"/>
            <a:ext cx="109728" cy="109728"/>
          </a:xfrm>
          <a:prstGeom prst="ellipse">
            <a:avLst/>
          </a:prstGeom>
          <a:solidFill>
            <a:srgbClr val="E07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3383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SequelizeValidationError checks not covered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813048"/>
            <a:ext cx="109728" cy="109728"/>
          </a:xfrm>
          <a:prstGeom prst="ellipse">
            <a:avLst/>
          </a:prstGeom>
          <a:solidFill>
            <a:srgbClr val="E07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3785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strings not asserted in tests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4215384"/>
            <a:ext cx="109728" cy="109728"/>
          </a:xfrm>
          <a:prstGeom prst="ellipse">
            <a:avLst/>
          </a:prstGeom>
          <a:solidFill>
            <a:srgbClr val="E07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4187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404/500 error status conditions not fully tested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EA0"/>
                </a:solidFill>
              </a:rPr>
              <a:t>contact@email.com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11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4B4D2A1-FE00-2C37-C587-0C74FB0A5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 MUTATION TEST — RESULT</a:t>
            </a:r>
            <a:endParaRPr lang="en-US" sz="2400" dirty="0"/>
          </a:p>
        </p:txBody>
      </p:sp>
      <p:pic>
        <p:nvPicPr>
          <p:cNvPr id="4" name="Image 0" descr="/home/claude/mutatio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14909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9678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 mutation test score table — routes/index.js: 70.00%  |  errorHandlers.js: 26.09%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2377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Improvement Areas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2788920"/>
            <a:ext cx="54864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278892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errorHandlers.js mutation score (26.09%) is significantly lower — error message content and status codes are not asserted in tests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" y="3282696"/>
            <a:ext cx="54864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" y="328269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logic (page || 1) survives mutations because tests don't check what happens when page param is missing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3776472"/>
            <a:ext cx="54864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377647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 branches survive because test assertions focus on HTTP status codes, not error response content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4270248"/>
            <a:ext cx="54864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" y="427024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(60.19%) indicates room for improvement with more assertion-heavy tests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12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D0ACC5-80DB-9FCB-1908-ED3E61B7E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— APACHE JMETER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Configuration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3931920" cy="59436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Application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Express (local)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 Stress Testing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3931920" cy="594360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7889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47288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Endpoints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/books, POST /books/new,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/books/:id, 404 handler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JmeterLoadTesting.docx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(HTTP Request)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389888"/>
            <a:ext cx="3931920" cy="566928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146304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65192" y="1417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65192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23ms  |  Min: 13ms  |  Max: 60ms  |  Throughput: 11.9/sec  |  Error: 0.00%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029968"/>
            <a:ext cx="3931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36592" y="210312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65192" y="2057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65192" y="2304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20ms  |  Min: 10ms  |  Max: 84ms  |  Throughput: 53.9/sec  |  Error: 0.00%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670048"/>
            <a:ext cx="3931920" cy="566928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36592" y="274320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65192" y="2697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65192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237ms  |  Min: 59ms  |  Max: 428ms  |  Throughput: 82.5/sec  |  Error: 0.00%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310128"/>
            <a:ext cx="3931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36592" y="33832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65192" y="33375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65192" y="3584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error rate across all scenarios. Latency increased significantly at 100 users (avg 237ms).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950208"/>
            <a:ext cx="3931920" cy="566928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36592" y="402336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65192" y="3977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Tested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65192" y="4224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/books — listing page under 10, 50, and 100 concurrent virtual users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13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E53E4D5-0A17-62FF-441F-90CE8E1B4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19388" y="1033063"/>
            <a:ext cx="8453343" cy="907812"/>
          </a:xfrm>
          <a:prstGeom prst="rect">
            <a:avLst/>
          </a:prstGeom>
        </p:spPr>
      </p:pic>
      <p:pic>
        <p:nvPicPr>
          <p:cNvPr id="5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219389" y="2377539"/>
            <a:ext cx="8453342" cy="869737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219389" y="2008207"/>
            <a:ext cx="99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 Users</a:t>
            </a:r>
          </a:p>
        </p:txBody>
      </p:sp>
      <p:pic>
        <p:nvPicPr>
          <p:cNvPr id="7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219389" y="3687633"/>
            <a:ext cx="8453342" cy="1103639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212B9D39-49E7-2650-99E1-C1FBF301D9BC}"/>
              </a:ext>
            </a:extLst>
          </p:cNvPr>
          <p:cNvSpPr/>
          <p:nvPr/>
        </p:nvSpPr>
        <p:spPr>
          <a:xfrm>
            <a:off x="219388" y="3333950"/>
            <a:ext cx="8453342" cy="35368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100 User</a:t>
            </a:r>
          </a:p>
          <a:p>
            <a:endParaRPr lang="en-US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ECDBD18-7F04-9D64-7A28-558441888428}"/>
              </a:ext>
            </a:extLst>
          </p:cNvPr>
          <p:cNvSpPr/>
          <p:nvPr/>
        </p:nvSpPr>
        <p:spPr>
          <a:xfrm>
            <a:off x="219389" y="2031550"/>
            <a:ext cx="8453342" cy="35368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50 User</a:t>
            </a:r>
          </a:p>
          <a:p>
            <a:endParaRPr lang="en-US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605B4055-4930-246D-A8AD-A627DC5CB535}"/>
              </a:ext>
            </a:extLst>
          </p:cNvPr>
          <p:cNvSpPr/>
          <p:nvPr/>
        </p:nvSpPr>
        <p:spPr>
          <a:xfrm>
            <a:off x="219388" y="679380"/>
            <a:ext cx="8453342" cy="35368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10 User</a:t>
            </a:r>
          </a:p>
          <a:p>
            <a:endParaRPr lang="en-US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062021F2-37DA-8A15-7D67-EBF3AB8098BB}"/>
              </a:ext>
            </a:extLst>
          </p:cNvPr>
          <p:cNvSpPr/>
          <p:nvPr/>
        </p:nvSpPr>
        <p:spPr>
          <a:xfrm>
            <a:off x="0" y="0"/>
            <a:ext cx="9144000" cy="53818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D4C2C413-66EF-0A0D-9EA4-09848BFBC77C}"/>
              </a:ext>
            </a:extLst>
          </p:cNvPr>
          <p:cNvSpPr/>
          <p:nvPr/>
        </p:nvSpPr>
        <p:spPr>
          <a:xfrm>
            <a:off x="0" y="850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— </a:t>
            </a:r>
            <a:r>
              <a:rPr lang="en-US" sz="2400" dirty="0" err="1">
                <a:solidFill>
                  <a:schemeClr val="bg1"/>
                </a:solidFill>
              </a:rPr>
              <a:t>Jmeter</a:t>
            </a:r>
            <a:r>
              <a:rPr lang="en-US" sz="2400" dirty="0">
                <a:solidFill>
                  <a:schemeClr val="bg1"/>
                </a:solidFill>
              </a:rPr>
              <a:t> Load Testing Results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60B15F-42D5-89F5-00D1-3F986276A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190" y="-26064"/>
            <a:ext cx="583809" cy="58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42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56032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868680"/>
            <a:ext cx="233172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99232" y="868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868680"/>
            <a:ext cx="251460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76672" y="868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868680"/>
            <a:ext cx="114300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36992" y="868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197864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197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— Selenium WebDriver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99232" y="11978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76672" y="119786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passed / 0 failed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36992" y="119786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600200"/>
            <a:ext cx="8503920" cy="384048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1600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— Selenium IDE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99232" y="16002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76672" y="16002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passed / 0 failed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36992" y="1600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002536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19888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— Playwright (ECP, BVA, Decision Table, Use Case)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99232" y="200253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tests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76672" y="20025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36992" y="200253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404872"/>
            <a:ext cx="8503920" cy="384048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24048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— Jest Unit Tests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99232" y="24048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tests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76672" y="24048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passed / 0 failed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36992" y="240487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807208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28072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— Code Coverage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99232" y="28072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76672" y="28072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97.39% statements / 100% functions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36992" y="280720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209544"/>
            <a:ext cx="8503920" cy="384048"/>
          </a:xfrm>
          <a:prstGeom prst="rect">
            <a:avLst/>
          </a:prstGeom>
          <a:solidFill>
            <a:srgbClr val="E8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" y="32095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— Mutation Testing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99232" y="3209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mutants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76672" y="32095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killed / 19 timeout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36992" y="320954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60.19%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611880"/>
            <a:ext cx="8503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7472" y="3611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— Load Testing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999232" y="36118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load levels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76672" y="36118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error rate — 10/50/100 users tested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36992" y="36118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041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435254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UI automation tests pass successfully across Selenium WebDriver, Selenium IDE, and Playwright.  Unit tests achieve high coverage (97.39% statements, 100% functions).  Mutation testing reveals opportunities to strengthen test assertions, particularly in error handlers.  Load testing shows 0% error rate at all levels; response time increases from avg 23ms (10 users) to 237ms (100 users), throughput scales from 11.9 to 82.5 req/sec.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EA0"/>
                </a:solidFill>
              </a:rPr>
              <a:t>14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77861F5-E20B-6C68-45A6-FDB00F4DE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45720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2226 — Software Quality Assurance and Testing</a:t>
            </a:r>
            <a:r>
              <a:rPr lang="en-US" sz="13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6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Department</a:t>
            </a:r>
            <a:endParaRPr lang="en-US" sz="1300" dirty="0"/>
          </a:p>
        </p:txBody>
      </p:sp>
      <p:sp>
        <p:nvSpPr>
          <p:cNvPr id="8" name="Dikdörtgen 7"/>
          <p:cNvSpPr/>
          <p:nvPr/>
        </p:nvSpPr>
        <p:spPr>
          <a:xfrm>
            <a:off x="6045200" y="3866346"/>
            <a:ext cx="29654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—</a:t>
            </a:r>
          </a:p>
          <a:p>
            <a:r>
              <a:rPr lang="en-US" sz="14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Berkay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Yıldırım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—</a:t>
            </a:r>
          </a:p>
          <a:p>
            <a:r>
              <a:rPr lang="en-US" sz="14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Serdar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Güngör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2370006081</a:t>
            </a:r>
          </a:p>
          <a:p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Artun – 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00B9CC-8411-170C-22BF-008273008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-26064"/>
            <a:ext cx="842616" cy="8426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68286" y="2037805"/>
            <a:ext cx="537028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Contents</a:t>
            </a:r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43131-C70F-E9F9-87CA-5E44DE496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84" y="0"/>
            <a:ext cx="842616" cy="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56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cked-Out User Login Valid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0051" y="96043"/>
            <a:ext cx="8267700" cy="465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1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d Produc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9100" y="177795"/>
            <a:ext cx="8191500" cy="45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6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move Product From Car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2125" y="141485"/>
            <a:ext cx="8175625" cy="459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4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eckout From Empty Field Valid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4825" y="139699"/>
            <a:ext cx="8201378" cy="461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7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ccessful Purchase Flo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7175" y="114299"/>
            <a:ext cx="8325556" cy="468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1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ut Proces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6725" y="133547"/>
            <a:ext cx="8201025" cy="461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6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ultiple Product Addition Tes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7675" y="137119"/>
            <a:ext cx="8296275" cy="466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8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1710</Words>
  <Application>Microsoft Office PowerPoint</Application>
  <PresentationFormat>On-screen Show (16:9)</PresentationFormat>
  <Paragraphs>416</Paragraphs>
  <Slides>33</Slides>
  <Notes>18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2226 - Software Quality Assurance and Testing</dc:title>
  <dc:subject>PptxGenJS Presentation</dc:subject>
  <dc:creator>PptxGenJS</dc:creator>
  <cp:lastModifiedBy>Toprak Guclu</cp:lastModifiedBy>
  <cp:revision>10</cp:revision>
  <dcterms:created xsi:type="dcterms:W3CDTF">2026-05-07T00:34:02Z</dcterms:created>
  <dcterms:modified xsi:type="dcterms:W3CDTF">2026-05-08T12:05:34Z</dcterms:modified>
</cp:coreProperties>
</file>